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977640"/>
            <a:ext cx="12188952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269748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Mutual Fund Analytics Platform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34290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— Final Presentation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Engineering · ETL Pipeline · Analytics · Interactive Dashboard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 / 12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&amp; Objective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00584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The Problem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53035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</a:rPr>
              <a:t>NAV, AUM and SIP data live in fragmented formats across AMFI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</a:rPr>
              <a:t>No unified analytics platform for risk-adjusted fund comparison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</a:rPr>
              <a:t>Retail investors can't easily see if their fund beats its benchmark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</a:rPr>
              <a:t>Monthly reports are static PDFs — no self-service dashboard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126480" y="1188720"/>
            <a:ext cx="5577840" cy="429768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0" y="13716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The Objective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0" y="1783080"/>
            <a:ext cx="50292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</a:rPr>
              <a:t>Build an automated ETL pipeline from raw AMFI data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</a:rPr>
              <a:t>Design a normalised SQL schema (6-table star schema)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</a:rPr>
              <a:t>Compute Sharpe, Sortino, Alpha/Beta, VaR/CVaR from scratch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</a:rPr>
              <a:t>Deliver an interactive, filterable analytics dashboard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2 / 12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00584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0F172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173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20574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3C5FD"/>
                </a:solidFill>
              </a:rPr>
              <a:t>Real fund schemes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128016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0F172A"/>
          </a:solidFill>
          <a:ln/>
        </p:spPr>
      </p:sp>
      <p:sp>
        <p:nvSpPr>
          <p:cNvPr id="8" name="Text 6"/>
          <p:cNvSpPr/>
          <p:nvPr/>
        </p:nvSpPr>
        <p:spPr>
          <a:xfrm>
            <a:off x="3291840" y="14173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46K+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291840" y="20574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3C5FD"/>
                </a:solidFill>
              </a:rPr>
              <a:t>NAV rows, Jan'22–May'26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128016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0F172A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0" y="14173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32.7K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126480" y="20574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3C5FD"/>
                </a:solidFill>
              </a:rPr>
              <a:t>Investor transactions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961120" y="128016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0F172A"/>
          </a:solidFill>
          <a:ln/>
        </p:spPr>
      </p:sp>
      <p:sp>
        <p:nvSpPr>
          <p:cNvPr id="14" name="Text 12"/>
          <p:cNvSpPr/>
          <p:nvPr/>
        </p:nvSpPr>
        <p:spPr>
          <a:xfrm>
            <a:off x="8961120" y="14173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8961120" y="20574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3C5FD"/>
                </a:solidFill>
              </a:rPr>
              <a:t>Provided datasets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0175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</a:rPr>
              <a:t>Sources: AMFI India (amfiindia.com) · mfapi.in REST API (no auth) · NSE/BSE public reports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520440"/>
          <a:ext cx="1124712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1828800"/>
                <a:gridCol w="53035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Dataset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Rows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Used In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01_fund_master.csv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dim_fund, all notebooks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02_nav_history.csv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46,000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fact_nav, EDA, Performance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08_investor_transactions.csv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~32,000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Investor Analytics, Cohorts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10_benchmark_indices.csv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~8,000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Alpha/Beta, benchmark charts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3 / 12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00584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1828800" cy="777240"/>
          </a:xfrm>
          <a:prstGeom prst="roundRect">
            <a:avLst>
              <a:gd name="adj" fmla="val 7059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EXTRACT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560320" y="1371600"/>
            <a:ext cx="8961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AMFI CSVs, mfapi.in API, NSE/BSE reports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234440" y="2148840"/>
            <a:ext cx="274320" cy="164592"/>
          </a:xfrm>
          <a:prstGeom prst="downArrow">
            <a:avLst/>
          </a:prstGeom>
          <a:solidFill>
            <a:srgbClr val="64748B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313432"/>
            <a:ext cx="1828800" cy="777240"/>
          </a:xfrm>
          <a:prstGeom prst="roundRect">
            <a:avLst>
              <a:gd name="adj" fmla="val 7059"/>
            </a:avLst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313432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TRANSFORM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560320" y="2313432"/>
            <a:ext cx="8961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Pandas cleaning: dates, dedup, forward-fill, validation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234440" y="3090672"/>
            <a:ext cx="274320" cy="164592"/>
          </a:xfrm>
          <a:prstGeom prst="downArrow">
            <a:avLst/>
          </a:prstGeom>
          <a:solidFill>
            <a:srgbClr val="64748B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3255264"/>
            <a:ext cx="1828800" cy="777240"/>
          </a:xfrm>
          <a:prstGeom prst="roundRect">
            <a:avLst>
              <a:gd name="adj" fmla="val 7059"/>
            </a:avLst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255264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LOAD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60320" y="3255264"/>
            <a:ext cx="8961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SQLite 6-table star schema (dim_fund, dim_date, 4 fact tables)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234440" y="4032504"/>
            <a:ext cx="274320" cy="164592"/>
          </a:xfrm>
          <a:prstGeom prst="downArrow">
            <a:avLst/>
          </a:prstGeom>
          <a:solidFill>
            <a:srgbClr val="64748B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4197096"/>
            <a:ext cx="1828800" cy="777240"/>
          </a:xfrm>
          <a:prstGeom prst="roundRect">
            <a:avLst>
              <a:gd name="adj" fmla="val 7059"/>
            </a:avLst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197096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ANALYSE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560320" y="4197096"/>
            <a:ext cx="8961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Jupyter notebooks: EDA, Performance, Advanced Analytics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234440" y="4974336"/>
            <a:ext cx="274320" cy="164592"/>
          </a:xfrm>
          <a:prstGeom prst="downArrow">
            <a:avLst/>
          </a:prstGeom>
          <a:solidFill>
            <a:srgbClr val="64748B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5138928"/>
            <a:ext cx="1828800" cy="777240"/>
          </a:xfrm>
          <a:prstGeom prst="roundRect">
            <a:avLst>
              <a:gd name="adj" fmla="val 7059"/>
            </a:avLst>
          </a:prstGeom>
          <a:solidFill>
            <a:srgbClr val="059669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5138928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VISUALISE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560320" y="5138928"/>
            <a:ext cx="8961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Interactive HTML/Plotly dashboard, 4 pages, live filters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4 / 12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Highlights — AUM &amp; Folio Growth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005840" cy="45720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4" name="Image 0" descr="02_aum_growth_by_fund_hou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6766560" cy="4206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52360" y="1234440"/>
            <a:ext cx="4251960" cy="420624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6" name="Text 3"/>
          <p:cNvSpPr/>
          <p:nvPr/>
        </p:nvSpPr>
        <p:spPr>
          <a:xfrm>
            <a:off x="7635240" y="1417320"/>
            <a:ext cx="3886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SBI Mutual Fund is the clear AUM leader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635240" y="2057400"/>
            <a:ext cx="3886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...across every year 2022–2025 among the top 8 AMCs, not just the latest snapshot.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635240" y="3017520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₹12.5L Cr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7635240" y="3611880"/>
            <a:ext cx="3886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SBI MF AUM, Dec 2025 — largest AMC in India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5 / 12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Highlights — Folios &amp; Sector Mix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005840" cy="45720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4" name="Image 0" descr="07_folio_count_growt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6035040" cy="4206240"/>
          </a:xfrm>
          <a:prstGeom prst="rect">
            <a:avLst/>
          </a:prstGeom>
        </p:spPr>
      </p:pic>
      <p:pic>
        <p:nvPicPr>
          <p:cNvPr id="5" name="Image 1" descr="09_sector_allocation_donu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417320"/>
            <a:ext cx="3931920" cy="39319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5486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</a:rPr>
              <a:t>Folios grew from 13.26 Cr → 26.12 Cr (2022–2025); Financial Services &amp; IT dominate aggregate equity holdings.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6 / 12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— Fund Scorecard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005840" cy="45720"/>
          </a:xfrm>
          <a:prstGeom prst="rect">
            <a:avLst/>
          </a:prstGeom>
          <a:solidFill>
            <a:srgbClr val="2563EB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471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5943600"/>
                <a:gridCol w="1371600"/>
                <a:gridCol w="1463040"/>
                <a:gridCol w="15544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Scheme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3yr CAGR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Sharpe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Mirae Asset Large Cap Fund — Regular — Growth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86.25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33.99%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1.45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ICICI Pru Midcap Fund — Regular — Growth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82.25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31.77%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1.18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Kotak Flexicap Fund — Regular — Growth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82.00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29.58%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1.31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HDFC Mid-Cap Opportunities Fund — Regular — Growth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80.75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32.43%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1.09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ICICI Pru Bluechip Fund — Direct — Growth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80.00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32.48%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1.03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1148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Composite score = 30% × 3yr return rank + 25% × Sharpe rank + 20% × Alpha rank + 15% × expense ratio rank (inv.) + 10% × max drawdown rank (inv.)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47091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</a:rPr>
              <a:t>Caveat: ranks across ALL categories on one scale — filter to one category before using this for fund selection.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7 / 12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— Benchmark Comparison &amp; Risk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005840" cy="45720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4" name="Image 0" descr="14_benchmark_comparison_top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6949440" cy="34747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35240" y="1234440"/>
            <a:ext cx="4069080" cy="347472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6" name="Text 3"/>
          <p:cNvSpPr/>
          <p:nvPr/>
        </p:nvSpPr>
        <p:spPr>
          <a:xfrm>
            <a:off x="7818120" y="1417320"/>
            <a:ext cx="3703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Top 5 funds by AUM vs Nifty 50 / Nifty 100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818120" y="228600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VaR (95%), riskiest fund: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818120" y="260604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SBI Small Cap Fund — Direct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818120" y="297180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-2.69% VaR / -3.24% CVaR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7818120" y="361188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Sector HHI, mean across equity funds: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818120" y="3931920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2,029  (moderately concentrated)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57200" y="48920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Benchmark comparison is relative to the supplied Nifty dataset, which does not track real market history — see report Section 8.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8 / 12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Dashboard — Industry Overview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005840" cy="45720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4" name="Image 0" descr="dashboard_p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234440"/>
            <a:ext cx="10515600" cy="665272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Standalone HTML/Plotly dashboard (Power BI Desktop unavailable) — KPI cards match real AMFI figures for SIP inflow and folios.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9 / 12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Dashboard — Fund Performance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005840" cy="45720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4" name="Image 0" descr="dashboard_p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234440"/>
            <a:ext cx="10515600" cy="5120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Functional filters (fund house, category, plan), sortable scorecard, NAV-vs-benchmark selector — verified working via automated browser testing.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10 / 12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00584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73152" cy="7772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28016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Top fund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063240" y="128016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Mirae Asset Large Cap Fund — score 86.25, 33.99% 3yr CAGR, Sharpe 1.45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73152" cy="7772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19456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Highest risk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063240" y="219456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SBI Small Cap Fund (Direct) — 95% VaR of -2.69%, CVaR -3.24%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3108960"/>
            <a:ext cx="73152" cy="7772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310896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Data limitation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063240" y="310896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Fund NAVs show ~zero correlation with Nifty 100 (R² ≈ 0.0006) — Alpha/Beta are methodologically correct but not real market signals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4023360"/>
            <a:ext cx="73152" cy="7772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402336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Investor retention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063240" y="402336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97.8% of long-tenure SIP investors flagged "at-risk" — median SIP gap is 65 days, not the ~30 expected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4937760"/>
            <a:ext cx="73152" cy="7772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493776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Sector risk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063240" y="493776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Equity fund sector HHI averages 2,029; one fund (Axis Bluechip) reaches 2,968 — "highly concentrated"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11 / 12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977640"/>
            <a:ext cx="12188952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46888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34290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Bluestock MF Analytics Platform — Capstone Project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github.com/Shradd7/Bluestock_MutualFundPlatform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12 / 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2026-08-11T21:19:59Z</dcterms:created>
  <dcterms:modified xsi:type="dcterms:W3CDTF">2026-08-11T21:19:59Z</dcterms:modified>
</cp:coreProperties>
</file>